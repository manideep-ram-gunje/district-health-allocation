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 gain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156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Naive sort
(infeasible)</c:v>
                  </c:pt>
                  <c:pt idx="1">
                    <c:v>Optimal (ILP)</c:v>
                  </c:pt>
                  <c:pt idx="2">
                    <c:v>Greedy, sorted
by objective</c:v>
                  </c:pt>
                  <c:pt idx="3">
                    <c:v>Greedy, sorted
by need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21.97</c:v>
                </c:pt>
                <c:pt idx="1">
                  <c:v>21.28</c:v>
                </c:pt>
                <c:pt idx="2">
                  <c:v>21.28</c:v>
                </c:pt>
                <c:pt idx="3">
                  <c:v>21.28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3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.4"/>
          <c:min val="20"/>
        </c:scaling>
        <c:delete val="0"/>
        <c:axPos val="l"/>
        <c:majorGridlines>
          <c:spPr>
            <a:ln w="9525" cap="flat">
              <a:solidFill>
                <a:srgbClr val="D3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Robust</c:v>
                </c:pt>
              </c:strCache>
            </c:strRef>
          </c:tx>
          <c:spPr>
            <a:solidFill>
              <a:srgbClr val="0156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Plausible disagreement</c:v>
                  </c:pt>
                  <c:pt idx="1">
                    <c:v>Adversarial stress 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</c:v>
                </c:pt>
                <c:pt idx="1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Contested</c:v>
                </c:pt>
              </c:strCache>
            </c:strRef>
          </c:tx>
          <c:spPr>
            <a:solidFill>
              <a:srgbClr val="A9C6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Plausible disagreement</c:v>
                  </c:pt>
                  <c:pt idx="1">
                    <c:v>Adversarial stress test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</c:v>
                </c:pt>
                <c:pt idx="1">
                  <c:v>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3E0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B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full pipeline, not a notebook. Public data in, database, scoring model, optimiser, robustness analysis, deployed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concrete. One budget, one question, a falsifiable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make pipeline runs the whole thing end to end. 76 tests gate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single story: a silent, plausible failure that a naive threshold accepts.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Percentile ranking is the key methodological choice. Be ready to defend it against z-scores.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oversell. The value is the robust/contested split, not a list of 25 'correct' districts.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to 'what is the weakest part'. Volunteer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Verified across 11 constraint configurations. The constraints form a partition matroid, which is why greedy is optimal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to 'did anything surprise you'. A fairness failure disguised as a modelling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weight vector is a value judgement. We measure its influence rather than defend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Reproducibility and honest failure handling are the differentiators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ML component. Frame the R2 correctly: the interesting part is the unexplained residual.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Leading with limitations builds credibility. Do not bury these.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01565B"/>
          </a:solidFill>
          <a:ln w="12700">
            <a:solidFill>
              <a:srgbClr val="01565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3291840"/>
            <a:ext cx="3108960" cy="3108960"/>
          </a:xfrm>
          <a:prstGeom prst="ellipse">
            <a:avLst/>
          </a:prstGeom>
          <a:solidFill>
            <a:srgbClr val="0E4A4E"/>
          </a:solidFill>
          <a:ln w="12700">
            <a:solidFill>
              <a:srgbClr val="0E4A4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1732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District Health Infrastructure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System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ANALYTICS PROJECT ON INDIAN PUBLIC HEALTH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should a State Health Society build its next 25 rural Sub-Centres — and is an optimised answer measurably better than a sorted list?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705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4008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reconciled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696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260604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scored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457200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weightings tested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6537960" y="535838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B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Python · Integer programming (CBC) · Streamlit    |    Portfolio project — not a policy recommendation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rural health system is sized against population norms — but placement is rarely driven by outcome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32120" cy="4160520"/>
          </a:xfrm>
          <a:prstGeom prst="roundRect">
            <a:avLst>
              <a:gd name="adj" fmla="val 1319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situation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49377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Sub-Centres are the first point of contact for 5,000 rural people (3,000 in hilly or tribal terrain).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Health Societies allocate a fixed annual budget of new facilities.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lean on population counts and political considerations.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district-level health outcome data is public and unused.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0" y="1600200"/>
            <a:ext cx="4892040" cy="4160520"/>
          </a:xfrm>
          <a:prstGeom prst="roundRect">
            <a:avLst>
              <a:gd name="adj" fmla="val 1319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0" y="18288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903720" y="224028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State Health Society has sanctioned budget for 25 new Sub-Centres.</a:t>
            </a: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endParaRPr lang="en-US" sz="15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district-level health outcome data, which districts should receive them — and how much measurable improvement does the optimal allocation deliver over a naive one?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stages. Every one runnable, testable and reproducible from a single command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44752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Acquire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public sources, checksummed, shape-asserted before anything runs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9784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9432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705 districts matched across a decade of splits, renames and new states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10144" y="169164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84464" y="1929384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6" name="Text 14"/>
          <p:cNvSpPr/>
          <p:nvPr/>
        </p:nvSpPr>
        <p:spPr>
          <a:xfrm>
            <a:off x="8284464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814816" y="1965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84464" y="24688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need index as a chain of SQL views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4400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44752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4400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program solved to a proven optimum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25112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6" name="Text 24"/>
          <p:cNvSpPr/>
          <p:nvPr/>
        </p:nvSpPr>
        <p:spPr>
          <a:xfrm>
            <a:off x="4599432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9784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Stress-test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99432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weightings; the optimiser re-solved 400 times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10144" y="3794760"/>
            <a:ext cx="3429000" cy="1828800"/>
          </a:xfrm>
          <a:prstGeom prst="roundRect">
            <a:avLst>
              <a:gd name="adj" fmla="val 3000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84464" y="4032504"/>
            <a:ext cx="402336" cy="402336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40325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814816" y="40690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84464" y="4572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crosswalk, choropleth, interactive app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failure worth knowing about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matching did not fail loudly. It failed plausibly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created after 2011 differ from an existing district by a single directional word. The string matcher scored those pairs 80–90 — comfortably inside any sane threshold.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67665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65176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Wrongly matched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East (Delhi)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East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Garo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Garo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West Khasi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 Khasi Hills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2240280"/>
            <a:ext cx="3657600" cy="2377440"/>
          </a:xfrm>
          <a:prstGeom prst="roundRect">
            <a:avLst>
              <a:gd name="adj" fmla="val 2308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24505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138160" y="2816352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would have given a district its sibling's population — and the output would have looked perfect, because a high match score is exactly what you check for.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a directional-token guard that refuses a match outright when directional words disagree — raising the threshold cannot work, because the bad match scores 80 while the genuine rename Darjeeling → Darjiling scores 84. 76 districts moved to a hand-built override table.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conserving population to 7 people against the published Census total.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district gets its score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NFHS-5 indicators, direction-normalised, percentile-ranked, weighted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61872" y="17099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Direction-normalise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61872" y="211226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indicators are good things, three are bad. Good ones are inverted so higher always means greater need.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61872" y="3127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Percentile-rank nationally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352958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births spans 20–100; stunting spans 6–60. Averaging raw values lets the widest-spread indicator dominate by accident.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617720"/>
            <a:ext cx="402336" cy="402336"/>
          </a:xfrm>
          <a:prstGeom prst="ellipse">
            <a:avLst/>
          </a:prstGeom>
          <a:solidFill>
            <a:srgbClr val="01565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61872" y="4544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mean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61872" y="4946904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indicators a district actually has, weights renormalised. No value is ever imputed from another district.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589520" y="1691640"/>
            <a:ext cx="3931920" cy="4023360"/>
          </a:xfrm>
          <a:prstGeom prst="roundRect">
            <a:avLst>
              <a:gd name="adj" fmla="val 1395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RANKING, NOT RAW VALUES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863840" y="2468880"/>
            <a:ext cx="3383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puts all seven indicators on one 0–1 scale, so the weight vector is the only thing that decides influence.</a:t>
            </a: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endParaRPr lang="en-US" sz="135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also what makes the sensitivity analysis meaningful — perturbing the weights perturbs exactly one thing.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result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Sub-Centres allocated across 696 eligible rural districts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states receiving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regions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5 / 4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44652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/ hilly /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06840" y="1828800"/>
            <a:ext cx="256032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12700">
            <a:solidFill>
              <a:srgbClr val="0E5F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20116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92354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reproducible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claim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“11 of 25 districts survive any plausible re-weighting. 14 depend on what you decided to value. Here is exactly which is which.”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40080" y="53949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Araria, Purnia and Sitamarhi in Bihar's Seemanchal region and Pakur, Sahibganj and Deoghar in Jharkhand's Santhal Pargana — found from seven survey indicators with no geographic input and no tuning.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1 — the supply adjustment cancels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asked for a supply-adjusted score. The algebra removes it entirely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96596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156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underservice  =  (need × pop) ÷ (pop ÷ norm)  =  need × norm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3154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population term cancels exactly.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3611880"/>
            <a:ext cx="10881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District-level facility counts are not published in machine-readable form, so the norm-implied fallback applies.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“supply-adjusted” score would be the need index times a terrain constant — carrying no information about existing infrastructure while appearing to account for it.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would rank districts almost identically to raw need, so the error would never look suspicious.</a:t>
            </a:r>
            <a:endParaRPr lang="en-US" sz="14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view proves the cancellation on all 696 districts; a test enforces it. No supply-adjusted figure is published.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2 — optimisation did not beat sorting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reporting that honestly is the finding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691640"/>
            <a:ext cx="4389120" cy="3931920"/>
          </a:xfrm>
          <a:prstGeom prst="roundRect">
            <a:avLst>
              <a:gd name="adj" fmla="val 1395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406640" y="1901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ILP ACTUALLY BUYS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406640" y="2286000"/>
            <a:ext cx="3840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proof — greedy gives an answer; the solver certifies it cannot be beaten.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Infeasibility detection — 40 facilities at 1 per state is impossible; a heuristic returns a plausible list.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constraints — changing the cap is one line of config.</a:t>
            </a:r>
            <a:endParaRPr lang="en-US" sz="1250" dirty="0"/>
          </a:p>
          <a:p>
            <a:pPr marL="342900" indent="-3429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— once constraints couple districts, greedy loses its guarantee.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version claimed a +13% premium. It was measured against a greedy sorted by the wrong key — a straw man. Withdrawn.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3 — the first objective was quietly discriminatory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excluded every hilly and tribal district, and looked like a modelling detail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601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6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651760" y="2395728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districts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hilly · 0 tribal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324612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 in need × min(norm, population) binds for only 2 of 696 districts, so the objective collapsed to need × 5,000 in plains and need × 3,000 in hills.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3200400"/>
          </a:xfrm>
          <a:prstGeom prst="roundRect">
            <a:avLst>
              <a:gd name="adj" fmla="val 1714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836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5 / 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9326880" y="248716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9CC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plains / hilly / tribal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324612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Terrain-neutral objective: one facility counts as one facility wherever it stands. Both are computed; the choice is explicit in configuration. It moves 9 of the 25 districts.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1206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hilly district needed a 67% higher need index merely to compete — which inverts the purpose of the standard it was built on. The IPHS norm is lower in hilly and tribal areas precisely because those areas are harder to reach.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this is the data, and how much is the weights?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sampled weightings per regime; the full optimisation re-solved 400 times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2179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737360"/>
            <a:ext cx="4206240" cy="3566160"/>
          </a:xfrm>
          <a:prstGeom prst="roundRect">
            <a:avLst>
              <a:gd name="adj" fmla="val 1538"/>
            </a:avLst>
          </a:prstGeom>
          <a:solidFill>
            <a:srgbClr val="F1F6F5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589520" y="1938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SUBTLETY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589520" y="2331720"/>
            <a:ext cx="3657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an allocated district by whether it stays in the national top 25 is the wrong test.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constrained optimum deliberately reaches outside that list — the cap forbids taking 12 districts from Bihar and the floor requires every region.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are judged on whether they survive a full re-solve instead.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0080" y="54864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are reported. Quoting only the flattering one would not survive scrutiny.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Engineering, not just analysis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parts that make the answer trustworthy rather than merely produced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 automated tests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Crosswalk integrity, database constraints, index mathematics, optimiser feasibility, dependency drift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74650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 by construction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pinned and checksummed; one command rebuilds everything; the sensitivity seed is fixed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16382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in the schema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97280" y="3474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refuses to hold a contradiction — an indicator cannot enter the index without a direction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316382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108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Fails loudly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29400" y="3474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missing config parameter raises rather than returning NULL — that bug once reported 12 facilities in one state as violating nothing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8114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without a database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falls back to an exported snapshot and says so on screen, which is what makes deployment possible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581144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failure logged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8920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build log records what broke and what replaced it, written as it happened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156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conserved to 7 people across 705 districts, checked against the published Census of India total — an external validation, not a self-consistency check.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156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4 — sicker than poverty explains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need from Census socioeconomics, and studying what the model misses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 index says HOW BAD outcomes are. It cannot separate a district that is unhealthy because it is poor from one that is unhealthy beyond what its poverty explains — and a facility plausibly helps the second far more.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23160"/>
          <a:ext cx="66751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005840"/>
                <a:gridCol w="100584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Residual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65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Kamrup Metropolitan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Assam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Mewat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Haryana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Deoghar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Jharkhand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+0.335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Bihar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3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+0.274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423160"/>
            <a:ext cx="3749040" cy="2651760"/>
          </a:xfrm>
          <a:prstGeom prst="roundRect">
            <a:avLst>
              <a:gd name="adj" fmla="val 2069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46720" y="2633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R²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046720" y="29718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0.657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046720" y="374904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R² would not be a good result — it would mean outcomes are fully determined by material conditions, leaving no room for a health-system signal.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52120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6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Kamrup Metropolitan is Guwahati — a state capital with a strong socioeconomic profile and health outcomes far below it. Patna is another. A need ranking alone surfaces neither. The residual is NOT used to drive the allocation.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37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cannot tell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060704"/>
            <a:ext cx="10881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9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front, because volunteering a limitation is stronger than being caught by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supply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4086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counts are not published district-wise. This measures need, not unmet need — the single largest weakness.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3736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9385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Decade-old population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34086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2011 against 2019–21 outcomes, with no projection.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39044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Apportioned splits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30682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districts share a Census parent; population divided equally — unbiased in aggregate, wrong district by district.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7033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01565B"/>
          </a:solidFill>
          <a:ln w="9525">
            <a:solidFill>
              <a:srgbClr val="D3E0DE"/>
            </a:solidFill>
            <a:prstDash val="solid"/>
          </a:ln>
          <a:effectLst>
            <a:outerShdw sx="100000" sy="100000" kx="0" ky="0" algn="bl" rotWithShape="0" blurRad="101600" dist="12700" dir="5400000">
              <a:srgbClr val="8FA6A4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92240" y="390448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indicator 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4306824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A8C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maternal, child and nutritional indicators. No amount of weight sampling fixes a shared blind spot.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E9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portfolio project built on public data. It is not a policy recommendation and should not be presented as one.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District Health Infrastructure Allocation System</dc:title>
  <dc:subject>PptxGenJS Presentation</dc:subject>
  <dc:creator/>
  <cp:lastModifiedBy/>
  <cp:revision>1</cp:revision>
  <dcterms:created xsi:type="dcterms:W3CDTF">2026-08-08T11:50:12Z</dcterms:created>
  <dcterms:modified xsi:type="dcterms:W3CDTF">2026-08-08T11:50:12Z</dcterms:modified>
</cp:coreProperties>
</file>